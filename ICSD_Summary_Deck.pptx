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418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50292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51592" y="5029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707624" y="502920"/>
            <a:ext cx="91440" cy="91440"/>
          </a:xfrm>
          <a:prstGeom prst="ellipse">
            <a:avLst/>
          </a:prstGeom>
          <a:solidFill>
            <a:srgbClr val="E06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63656" y="50292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219688" y="5029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75720" y="502920"/>
            <a:ext cx="91440" cy="91440"/>
          </a:xfrm>
          <a:prstGeom prst="ellipse">
            <a:avLst/>
          </a:prstGeom>
          <a:solidFill>
            <a:srgbClr val="E06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· CUSTOMER OPERATIONS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84124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Customer Signal Detector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14813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 &amp; Objective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5257800" cy="2514600"/>
          </a:xfrm>
          <a:prstGeom prst="roundRect">
            <a:avLst>
              <a:gd name="adj" fmla="val 3636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E06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TODAY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2862072"/>
            <a:ext cx="109728" cy="109728"/>
          </a:xfrm>
          <a:prstGeom prst="ellipse">
            <a:avLst/>
          </a:prstGeom>
          <a:solidFill>
            <a:srgbClr val="E06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27157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siloed across chat, billing &amp; usage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291840"/>
            <a:ext cx="109728" cy="109728"/>
          </a:xfrm>
          <a:prstGeom prst="ellipse">
            <a:avLst/>
          </a:prstGeom>
          <a:solidFill>
            <a:srgbClr val="E06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14553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reviewed manually, one by one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3721608"/>
            <a:ext cx="109728" cy="109728"/>
          </a:xfrm>
          <a:prstGeom prst="ellipse">
            <a:avLst/>
          </a:prstGeom>
          <a:solidFill>
            <a:srgbClr val="E06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357530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only after a complaint escalates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4151376"/>
            <a:ext cx="109728" cy="109728"/>
          </a:xfrm>
          <a:prstGeom prst="ellipse">
            <a:avLst/>
          </a:prstGeom>
          <a:solidFill>
            <a:srgbClr val="E06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7280" y="40050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lands after churn intent forms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5080" y="2148840"/>
            <a:ext cx="5257800" cy="251460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0" y="2286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WITH AI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675120" y="2862072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3720" y="27157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multi-signal scoring engine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75120" y="329184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03720" y="314553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correlates chat logs with telemetry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75120" y="3721608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03720" y="357530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daily action queue for Ops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75120" y="41513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03720" y="40050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 before the customer decides to leave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7315200" cy="1417320"/>
          </a:xfrm>
          <a:prstGeom prst="roundRect">
            <a:avLst>
              <a:gd name="adj" fmla="val 6452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5029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" y="5321808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unified multi-signal scoring engine that correlates unstructured chat logs with CSAT, billing and usage telemetry to surface early churn/escalation risk.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046720" y="489204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E06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7532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75320" y="532180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Operations &amp; Retention teams needing a prioritized daily action queue.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 &amp; Design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telemetry and unstructured chat converge into one prioritized triage view.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12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chat logs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12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54203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scores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55264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12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25526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disputes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12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96849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inactivity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14813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77640" y="1627632"/>
            <a:ext cx="7635240" cy="969264"/>
          </a:xfrm>
          <a:prstGeom prst="roundRect">
            <a:avLst>
              <a:gd name="adj" fmla="val 9434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77640" y="1627632"/>
            <a:ext cx="822960" cy="969264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77640" y="1627632"/>
            <a:ext cx="8229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029200" y="17556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212140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logs + structured usage/billing metrics normalized into one record.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95260" y="2596896"/>
            <a:ext cx="0" cy="256032"/>
          </a:xfrm>
          <a:prstGeom prst="line">
            <a:avLst/>
          </a:prstGeom>
          <a:noFill/>
          <a:ln w="25400">
            <a:solidFill>
              <a:srgbClr val="1221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77640" y="2852928"/>
            <a:ext cx="7635240" cy="969264"/>
          </a:xfrm>
          <a:prstGeom prst="roundRect">
            <a:avLst>
              <a:gd name="adj" fmla="val 9434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77640" y="2852928"/>
            <a:ext cx="822960" cy="969264"/>
          </a:xfrm>
          <a:prstGeom prst="roundRect">
            <a:avLst>
              <a:gd name="adj" fmla="val 11111"/>
            </a:avLst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77640" y="2852928"/>
            <a:ext cx="8229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029200" y="2980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Correlation Engine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334670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weighting blended with LLM contextual reasoning over the transcript.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95260" y="3822192"/>
            <a:ext cx="0" cy="256032"/>
          </a:xfrm>
          <a:prstGeom prst="line">
            <a:avLst/>
          </a:prstGeom>
          <a:noFill/>
          <a:ln w="25400">
            <a:solidFill>
              <a:srgbClr val="1221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77640" y="4078224"/>
            <a:ext cx="7635240" cy="969264"/>
          </a:xfrm>
          <a:prstGeom prst="roundRect">
            <a:avLst>
              <a:gd name="adj" fmla="val 9434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977640" y="4078224"/>
            <a:ext cx="822960" cy="969264"/>
          </a:xfrm>
          <a:prstGeom prst="roundRect">
            <a:avLst>
              <a:gd name="adj" fmla="val 11111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977640" y="4078224"/>
            <a:ext cx="8229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50292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Layer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0" y="4572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0–100 score mapped to Critical / High / Medium / Low SLA tiers.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95260" y="5047488"/>
            <a:ext cx="0" cy="256032"/>
          </a:xfrm>
          <a:prstGeom prst="line">
            <a:avLst/>
          </a:prstGeom>
          <a:noFill/>
          <a:ln w="25400">
            <a:solidFill>
              <a:srgbClr val="1221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977640" y="5303520"/>
            <a:ext cx="7635240" cy="969264"/>
          </a:xfrm>
          <a:prstGeom prst="roundRect">
            <a:avLst>
              <a:gd name="adj" fmla="val 9434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977640" y="5303520"/>
            <a:ext cx="822960" cy="969264"/>
          </a:xfrm>
          <a:prstGeom prst="roundRect">
            <a:avLst>
              <a:gd name="adj" fmla="val 11111"/>
            </a:avLst>
          </a:prstGeom>
          <a:solidFill>
            <a:srgbClr val="4C9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77640" y="5303520"/>
            <a:ext cx="8229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029200" y="543153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UI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29200" y="579729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command center presenting prioritized intervention recommendations.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788920" y="2606040"/>
            <a:ext cx="1188720" cy="0"/>
          </a:xfrm>
          <a:prstGeom prst="line">
            <a:avLst/>
          </a:prstGeom>
          <a:noFill/>
          <a:ln w="25400">
            <a:solidFill>
              <a:srgbClr val="1221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Highlights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12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447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(zero-shot schema)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49377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"churn_intent": 0.0-1.0,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"frustration": 0.0-1.0,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"competitor_mention": bool,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"feature_gap": bool,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"billing_issue": bool,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"passive_dissatisfaction": bool,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"sentiment": -1.0..1.0,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0.0-1.0,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"key_phrases": [string]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JSON → reliable parsing into operational tables.</a:t>
            </a:r>
            <a:endParaRPr lang="en-US" sz="1200" dirty="0"/>
          </a:p>
        </p:txBody>
      </p:sp>
      <p:pic>
        <p:nvPicPr>
          <p:cNvPr id="7" name="Image 0" descr="outputs/risk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25880"/>
            <a:ext cx="5806440" cy="32510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0" y="4604398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matrix from the Streamlit command center.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5074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68096" y="53492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69264" y="51846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signal analysis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68096" y="562356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thresholds (CSAT ≤ 2, high disputes) + soft semantic signals (passive dissatisfaction, competitor mentions).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97680" y="5074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17136" y="5349240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18304" y="51846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Pydantic-validated output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17136" y="562356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JSON is schema-validated before scoring — malformed reads are caught and safely handled.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0" y="5074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266176" y="5349240"/>
            <a:ext cx="146304" cy="146304"/>
          </a:xfrm>
          <a:prstGeom prst="ellipse">
            <a:avLst/>
          </a:prstGeom>
          <a:solidFill>
            <a:srgbClr val="4C9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467344" y="51846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human-in-loop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266176" y="562356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transcript reads are auto-flagged for manual review; every flag cites transcript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challenge resolved by anchoring AI judgment to hard evidence.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92224"/>
            <a:ext cx="164592" cy="164592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6002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noise &amp; false positives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261E"/>
                </a:solidFill>
              </a:rPr>
              <a:t>Challenge  </a:t>
            </a:r>
            <a:r>
              <a:rPr lang="en-US" sz="1250" dirty="0">
                <a:solidFill>
                  <a:srgbClr val="1F2937"/>
                </a:solidFill>
              </a:rPr>
              <a:t>A venting-but-happy customer must not top the queue.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76148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C9A6B"/>
                </a:solidFill>
              </a:rPr>
              <a:t>Solution  </a:t>
            </a:r>
            <a:r>
              <a:rPr lang="en-US" sz="1250" dirty="0">
                <a:solidFill>
                  <a:srgbClr val="1F2937"/>
                </a:solidFill>
              </a:rPr>
              <a:t>Anchor qualitative sentiment with hard billing/usage metrics; positive-language guard caps churn intent.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29400" y="1463040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03720" y="1792224"/>
            <a:ext cx="164592" cy="164592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0" y="16002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latency &amp; cost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903720" y="2121408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261E"/>
                </a:solidFill>
              </a:rPr>
              <a:t>Challenge  </a:t>
            </a:r>
            <a:r>
              <a:rPr lang="en-US" sz="1250" dirty="0">
                <a:solidFill>
                  <a:srgbClr val="1F2937"/>
                </a:solidFill>
              </a:rPr>
              <a:t>Scoring 100s of transcripts in real time is a bottleneck.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03720" y="276148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C9A6B"/>
                </a:solidFill>
              </a:rPr>
              <a:t>Solution  </a:t>
            </a:r>
            <a:r>
              <a:rPr lang="en-US" sz="1250" dirty="0">
                <a:solidFill>
                  <a:srgbClr val="1F2937"/>
                </a:solidFill>
              </a:rPr>
              <a:t>Batch transcript analysis asynchronously; deterministic scoring runs instantly on cached signals.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64592" cy="164592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39319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trust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2960" y="4453128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261E"/>
                </a:solidFill>
              </a:rPr>
              <a:t>Challenge  </a:t>
            </a:r>
            <a:r>
              <a:rPr lang="en-US" sz="1250" dirty="0">
                <a:solidFill>
                  <a:srgbClr val="1F2937"/>
                </a:solidFill>
              </a:rPr>
              <a:t>Ops teams reject a raw sentiment score they can't defend.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509320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C9A6B"/>
                </a:solidFill>
              </a:rPr>
              <a:t>Solution  </a:t>
            </a:r>
            <a:r>
              <a:rPr lang="en-US" sz="1250" dirty="0">
                <a:solidFill>
                  <a:srgbClr val="1F2937"/>
                </a:solidFill>
              </a:rPr>
              <a:t>Every flag shows its key_signals + transcript evidence — explainable, not black-box.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9400" y="3794760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03720" y="4123944"/>
            <a:ext cx="164592" cy="164592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0" y="39319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structured output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903720" y="4453128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261E"/>
                </a:solidFill>
              </a:rPr>
              <a:t>Challenge  </a:t>
            </a:r>
            <a:r>
              <a:rPr lang="en-US" sz="1250" dirty="0">
                <a:solidFill>
                  <a:srgbClr val="1F2937"/>
                </a:solidFill>
              </a:rPr>
              <a:t>Free-form LLM text breaks downstream tables.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03720" y="509320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C9A6B"/>
                </a:solidFill>
              </a:rPr>
              <a:t>Solution  </a:t>
            </a:r>
            <a:r>
              <a:rPr lang="en-US" sz="1250" dirty="0">
                <a:solidFill>
                  <a:srgbClr val="1F2937"/>
                </a:solidFill>
              </a:rPr>
              <a:t>Zero-shot JSON schema + robust parsing + mock fallback keep the pipeline unbreakable.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Summary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95560" y="50292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451592" y="5029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07624" y="502920"/>
            <a:ext cx="91440" cy="91440"/>
          </a:xfrm>
          <a:prstGeom prst="ellipse">
            <a:avLst/>
          </a:prstGeom>
          <a:solidFill>
            <a:srgbClr val="E06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63656" y="50292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219688" y="5029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475720" y="502920"/>
            <a:ext cx="91440" cy="91440"/>
          </a:xfrm>
          <a:prstGeom prst="ellipse">
            <a:avLst/>
          </a:prstGeom>
          <a:solidFill>
            <a:srgbClr val="E06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recap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1700784"/>
            <a:ext cx="128016" cy="128016"/>
          </a:xfrm>
          <a:prstGeom prst="ellipse">
            <a:avLst/>
          </a:prstGeom>
          <a:solidFill>
            <a:srgbClr val="4C9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1545336"/>
            <a:ext cx="5486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synthetic chat logs → AI analysis → real-time risk triage queue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2176272"/>
            <a:ext cx="128016" cy="128016"/>
          </a:xfrm>
          <a:prstGeom prst="ellipse">
            <a:avLst/>
          </a:prstGeom>
          <a:solidFill>
            <a:srgbClr val="4C9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86968" y="2020824"/>
            <a:ext cx="5486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risk matrix, triage table, inspector &amp; a persisted action log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2651760"/>
            <a:ext cx="128016" cy="128016"/>
          </a:xfrm>
          <a:prstGeom prst="ellipse">
            <a:avLst/>
          </a:prstGeom>
          <a:solidFill>
            <a:srgbClr val="4C9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6968" y="2496312"/>
            <a:ext cx="5486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flag ships a risk score, evidence, rationale, and a retention action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127248"/>
            <a:ext cx="128016" cy="128016"/>
          </a:xfrm>
          <a:prstGeom prst="ellipse">
            <a:avLst/>
          </a:prstGeom>
          <a:solidFill>
            <a:srgbClr val="4C9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6968" y="2971800"/>
            <a:ext cx="5486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any LLM (Anthropic/OpenAI/Gemini) or a no-key deterministic fallback</a:t>
            </a:r>
            <a:endParaRPr lang="en-US" sz="1300" dirty="0"/>
          </a:p>
        </p:txBody>
      </p:sp>
      <p:pic>
        <p:nvPicPr>
          <p:cNvPr id="18" name="Image 0" descr="outputs/triage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03320"/>
            <a:ext cx="5577840" cy="192339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5654145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 triage (sample output)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0" y="1143000"/>
            <a:ext cx="5212080" cy="3429000"/>
          </a:xfrm>
          <a:prstGeom prst="roundRect">
            <a:avLst>
              <a:gd name="adj" fmla="val 32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629400" y="12984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6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next steps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812280" y="19568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040880" y="1810512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Live integrations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040880" y="213969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into Zendesk, Intercom &amp; Stripe for real-time signals.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12280" y="285292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040880" y="2706624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Automated alerting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040880" y="303580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Critical-tier flags to Slack / PagerDuty instantly.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7490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040880" y="3602736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Closed-loop learning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040880" y="39319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log ships today; next, correlate outcomes to refine scoring.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07834" y="4811804"/>
            <a:ext cx="5348504" cy="150876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483096" y="484345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407834" y="5179121"/>
            <a:ext cx="5348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12213D"/>
                </a:solidFill>
              </a:rPr>
              <a:t>GitHub:  </a:t>
            </a:r>
            <a:r>
              <a:rPr lang="en-US" sz="1300" dirty="0">
                <a:solidFill>
                  <a:srgbClr val="FFFFFF"/>
                </a:solidFill>
              </a:rPr>
              <a:t>https://github.com/mehaksomani/Intelligent-Customer-Signal-Detector.git </a:t>
            </a:r>
            <a:br>
              <a:rPr lang="en-US" sz="1300" dirty="0">
                <a:solidFill>
                  <a:srgbClr val="FFFFFF"/>
                </a:solidFill>
              </a:rPr>
            </a:br>
            <a:r>
              <a:rPr lang="en-US" sz="1300" b="1" dirty="0">
                <a:solidFill>
                  <a:srgbClr val="12213D"/>
                </a:solidFill>
              </a:rPr>
              <a:t>Demo :</a:t>
            </a:r>
            <a:r>
              <a:rPr lang="en-US" sz="1300" dirty="0">
                <a:solidFill>
                  <a:srgbClr val="FFFFFF"/>
                </a:solidFill>
              </a:rPr>
              <a:t> https://www.loom.com/share/ce65e5cb81c94816bec5d32fbf9def8a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640</Words>
  <Application>Microsoft Office PowerPoint</Application>
  <PresentationFormat>Widescreen</PresentationFormat>
  <Paragraphs>92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Mehak Somani</cp:lastModifiedBy>
  <cp:revision>2</cp:revision>
  <dcterms:created xsi:type="dcterms:W3CDTF">2026-08-28T11:35:26Z</dcterms:created>
  <dcterms:modified xsi:type="dcterms:W3CDTF">2026-08-28T18:54:27Z</dcterms:modified>
</cp:coreProperties>
</file>